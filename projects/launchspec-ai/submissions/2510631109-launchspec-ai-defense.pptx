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自我介绍与项目一句话定位。强调这是提交期自选项目，与集中期跟练的 arena-lite 在用户、场景、接口和技术栈上完全不同。控制在 30 秒内进入正题。若被问最终版本，冻结提交号 ab364f0 已写在封面，详见最终报告第 1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先讲痛点再讲方案。关键差异点是『结构化』——不是让 AI 写得更长，而是逼它输出可被验证的结构。最后一句是全项目的价值主张，也是 AI 边界的出发点。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架构讲三层就够。真正要强调的是右侧：单一校验点。这是回答『模型输出不可控怎么办』的核心答案——不是相信模型，而是让所有 provider 走同一道校验闸门。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演示时按表格顺序走。第 3、4 步是重点：证明『人可以改 AI 的结果，并且改动会被保留』。如果现场网络不稳，用 demo provider 演示，真实模型结果用证据页说明。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这一页对应 ADR-002。评委常问『你怎么保证 AI 不乱来』——答案是两句：结构上过统一校验，失败上绝不伪装成功。后者在真实运行中被验证过，上游确实返回过 502/503。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这页是『真实 AI 能力』的核心证据。两个要点：不同模型交叉审查；失败记录不删。如果被问到 demo 是不是糊弄，指出 demo 只用于测试，真实证据在这里。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回答『哪个测试最能证明系统质量』：不是单元测试，是人工 UAT。两次真人验收各抓到一个自动化看不见的问题——7-23 本人发现白屏与 hydration 失败，7-29 测试者 TYX 发现生成蓝图不可用。这是本项目最有说服力的经验。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这是必答题，务必讲完整：原判断 → 证据 → 修正 → 回归 → 得到的判断。最后一句是重点，体现的是工程判断力而不只是修了个 bug。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回答『密钥和访问令牌如何保护』。强调一点：扫描写进了 check.sh，属于门禁，每次 check 都会跑，不是提交前想起来才做。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主动交代缺口，不等评委问。特别是提交粒度问题——要讲清楚为什么不补：补了就是伪造。这个态度本身就是课程要考的工程诚实。真人 UAT 已补齐，可正面说明。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回答『再给一周砍什么补什么』。补的是证据链缺口，砍的是范围诱惑——强调维持边界本身也是一种决策。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备份页，正常不讲。被问到时直接定位到对应文件。所有回答都能落到仓库内的具体路径，不靠临场发挥。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96596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>
                <a:solidFill>
                  <a:srgbClr val="1B4DE4"/>
                </a:solidFill>
                <a:latin typeface="Helvetica Neue"/>
              </a:rPr>
              <a:t>2510631109-launchspec-ai</a:t>
            </a:r>
          </a:p>
          <a:p>
            <a:pPr algn="l">
              <a:spcAft>
                <a:spcPts val="1000"/>
              </a:spcAft>
            </a:pPr>
            <a:r>
              <a:rPr sz="5600" b="1">
                <a:solidFill>
                  <a:srgbClr val="1A1A1A"/>
                </a:solidFill>
                <a:latin typeface="Helvetica Neue"/>
              </a:rPr>
              <a:t>LaunchSpec AI</a:t>
            </a:r>
          </a:p>
          <a:p>
            <a:pPr algn="l">
              <a:spcAft>
                <a:spcPts val="2600"/>
              </a:spcAft>
            </a:pPr>
            <a:r>
              <a:rPr sz="2100" b="0">
                <a:solidFill>
                  <a:srgbClr val="6B6B6B"/>
                </a:solidFill>
                <a:latin typeface="Helvetica Neue"/>
              </a:rPr>
              <a:t>把产品想法转化为可编辑、可审查、可导出的 MVP 项目蓝图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15968"/>
            <a:ext cx="2926080" cy="38100"/>
          </a:xfrm>
          <a:prstGeom prst="rect">
            <a:avLst/>
          </a:prstGeom>
          <a:solidFill>
            <a:srgbClr val="1B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61772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B6B"/>
                </a:solidFill>
                <a:latin typeface="Helvetica Neue"/>
              </a:rPr>
              <a:t>短学期实践 · 提交期自选项目答辩　|　徐驰宇　学号 2510631109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Helvetica Neue"/>
              </a:rPr>
              <a:t>Next.js 16 · TypeScript · 本地 JSON 存储　|　2026-08-02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B6B6B"/>
                </a:solidFill>
                <a:latin typeface="Helvetica Neue"/>
              </a:rPr>
              <a:t>最终冻结提交　ab364f0　|　分支 feat/2510631109-local-ci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4DE4"/>
                </a:solidFill>
                <a:latin typeface="Helvetica Neue"/>
              </a:rPr>
              <a:t>01　问题与价值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为什么需要 LaunchSpec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10515600" cy="38100"/>
          </a:xfrm>
          <a:prstGeom prst="rect">
            <a:avLst/>
          </a:prstGeom>
          <a:solidFill>
            <a:srgbClr val="1B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00"/>
              </a:spcAft>
            </a:pPr>
            <a:r>
              <a:rPr sz="1700" b="1">
                <a:solidFill>
                  <a:srgbClr val="1A1A1A"/>
                </a:solidFill>
                <a:latin typeface="Helvetica Neue"/>
              </a:rPr>
              <a:t>痛点   产品想法分散在聊天记录、口头沟通和临时笔记里，团队以为理解一致，实际返工。</a:t>
            </a:r>
          </a:p>
          <a:p>
            <a:pPr algn="l">
              <a:spcAft>
                <a:spcPts val="1700"/>
              </a:spcAft>
            </a:pPr>
            <a:r>
              <a:rPr sz="1700" b="1">
                <a:solidFill>
                  <a:srgbClr val="1A1A1A"/>
                </a:solidFill>
                <a:latin typeface="Helvetica Neue"/>
              </a:rPr>
              <a:t>现有 AI 的不足   直接问模型会得到一段不可测试的长文，缺少范围、验收标准和风险约束。</a:t>
            </a:r>
          </a:p>
          <a:p>
            <a:pPr algn="l">
              <a:spcAft>
                <a:spcPts val="1700"/>
              </a:spcAft>
            </a:pPr>
            <a:r>
              <a:rPr sz="1700" b="1">
                <a:solidFill>
                  <a:srgbClr val="1A1A1A"/>
                </a:solidFill>
                <a:latin typeface="Helvetica Neue"/>
              </a:rPr>
              <a:t>我们的做法   把生成结果固定为可编辑、可验证的结构：目标用户、问题、MVP 范围、非目标、验收标准、风险、架构、AI 边界共 8 个板块。</a:t>
            </a:r>
          </a:p>
          <a:p>
            <a:pPr algn="l">
              <a:spcAft>
                <a:spcPts val="1700"/>
              </a:spcAft>
            </a:pPr>
            <a:r>
              <a:rPr sz="1700" b="1">
                <a:solidFill>
                  <a:srgbClr val="1A1A1A"/>
                </a:solidFill>
                <a:latin typeface="Helvetica Neue"/>
              </a:rPr>
              <a:t>目标用户   创业团队负责人、外包项目经理、需要快速对齐范围的学生项目组。</a:t>
            </a:r>
          </a:p>
          <a:p>
            <a:pPr algn="l">
              <a:spcAft>
                <a:spcPts val="1700"/>
              </a:spcAft>
            </a:pPr>
            <a:r>
              <a:rPr sz="1700" b="1">
                <a:solidFill>
                  <a:srgbClr val="1A1A1A"/>
                </a:solidFill>
                <a:latin typeface="Helvetica Neue"/>
              </a:rPr>
              <a:t>成功指标   5 分钟内完成创建 → 生成 → 编辑 → 审查 → 导出，产出不含占位符的方案草案。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53212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1B4DE4"/>
                </a:solidFill>
                <a:latin typeface="Helvetica Neue"/>
              </a:rPr>
              <a:t>核心立场：AI 给草案，人做决策。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4DE4"/>
                </a:solidFill>
                <a:latin typeface="Helvetica Neue"/>
              </a:rPr>
              <a:t>02　系统架构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分层与单一校验点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10515600" cy="38100"/>
          </a:xfrm>
          <a:prstGeom prst="rect">
            <a:avLst/>
          </a:prstGeom>
          <a:solidFill>
            <a:srgbClr val="1B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A1A1A"/>
                </a:solidFill>
                <a:latin typeface="Helvetica Neue"/>
              </a:rPr>
              <a:t>浏览器 React 工作台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6B6B6B"/>
                </a:solidFill>
                <a:latin typeface="Helvetica Neue"/>
              </a:rPr>
              <a:t>项目列表 · 蓝图编辑器 · 审查面板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1B4DE4"/>
                </a:solidFill>
                <a:latin typeface="Helvetica Neue"/>
              </a:rPr>
              <a:t>↓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A1A1A"/>
                </a:solidFill>
                <a:latin typeface="Helvetica Neue"/>
              </a:rPr>
              <a:t>Next.js Route Handlers（Node runtime）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6B6B6B"/>
                </a:solidFill>
                <a:latin typeface="Helvetica Neue"/>
              </a:rPr>
              <a:t>校验与错误映射 → repository → provider adapter</a:t>
            </a:r>
            <a:br/>
            <a:r>
              <a:rPr sz="1300" b="0">
                <a:solidFill>
                  <a:srgbClr val="6B6B6B"/>
                </a:solidFill>
                <a:latin typeface="Helvetica Neue"/>
              </a:rPr>
              <a:t>→ review engine → exporter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1B4DE4"/>
                </a:solidFill>
                <a:latin typeface="Helvetica Neue"/>
              </a:rPr>
              <a:t>↓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A1A1A"/>
                </a:solidFill>
                <a:latin typeface="Helvetica Neue"/>
              </a:rPr>
              <a:t>data/launchspec.json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6B6B"/>
                </a:solidFill>
                <a:latin typeface="Helvetica Neue"/>
              </a:rPr>
              <a:t>临时文件 + rename 原子替换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1B4DE4"/>
                </a:solidFill>
                <a:latin typeface="Helvetica Neue"/>
              </a:rPr>
              <a:t>关键设计约束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A1A1A"/>
                </a:solidFill>
                <a:latin typeface="Helvetica Neue"/>
              </a:rPr>
              <a:t>validation.ts 是输入与模型 JSON 的唯一结构校验点。</a:t>
            </a:r>
          </a:p>
          <a:p>
            <a:pPr algn="l">
              <a:spcAft>
                <a:spcPts val="1800"/>
              </a:spcAft>
            </a:pPr>
            <a:r>
              <a:rPr sz="1400" b="0">
                <a:solidFill>
                  <a:srgbClr val="6B6B6B"/>
                </a:solidFill>
                <a:latin typeface="Helvetica Neue"/>
              </a:rPr>
              <a:t>无论 demo 还是真实模型，返回内容都必须通过同一份 validateBlueprint 才能入库——真实模型的不确定输出无法绕过结构约束。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Helvetica Neue"/>
              </a:rPr>
              <a:t>8 条路由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6B6B"/>
                </a:solidFill>
                <a:latin typeface="Helvetica Neue"/>
              </a:rPr>
              <a:t>/api/health</a:t>
            </a:r>
            <a:br/>
            <a:r>
              <a:rPr sz="1300" b="0">
                <a:solidFill>
                  <a:srgbClr val="6B6B6B"/>
                </a:solidFill>
                <a:latin typeface="Helvetica Neue"/>
              </a:rPr>
              <a:t>/api/projects</a:t>
            </a:r>
            <a:br/>
            <a:r>
              <a:rPr sz="1300" b="0">
                <a:solidFill>
                  <a:srgbClr val="6B6B6B"/>
                </a:solidFill>
                <a:latin typeface="Helvetica Neue"/>
              </a:rPr>
              <a:t>/api/projects/[id]</a:t>
            </a:r>
            <a:br/>
            <a:r>
              <a:rPr sz="1300" b="0">
                <a:solidFill>
                  <a:srgbClr val="6B6B6B"/>
                </a:solidFill>
                <a:latin typeface="Helvetica Neue"/>
              </a:rPr>
              <a:t>/api/projects/[id]/generate</a:t>
            </a:r>
            <a:br/>
            <a:r>
              <a:rPr sz="1300" b="0">
                <a:solidFill>
                  <a:srgbClr val="6B6B6B"/>
                </a:solidFill>
                <a:latin typeface="Helvetica Neue"/>
              </a:rPr>
              <a:t>/api/projects/[id]/review</a:t>
            </a:r>
            <a:br/>
            <a:r>
              <a:rPr sz="1300" b="0">
                <a:solidFill>
                  <a:srgbClr val="6B6B6B"/>
                </a:solidFill>
                <a:latin typeface="Helvetica Neue"/>
              </a:rPr>
              <a:t>/api/projects/[id]/export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4DE4"/>
                </a:solidFill>
                <a:latin typeface="Helvetica Neue"/>
              </a:rPr>
              <a:t>03　演示路径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五步最小闭环，每步都可验证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10515600" cy="38100"/>
          </a:xfrm>
          <a:prstGeom prst="rect">
            <a:avLst/>
          </a:prstGeom>
          <a:solidFill>
            <a:srgbClr val="1B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2194560"/>
          <a:ext cx="104241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076"/>
                <a:gridCol w="3648456"/>
                <a:gridCol w="3127248"/>
                <a:gridCol w="30403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步骤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操作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接口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预期</a:t>
                      </a:r>
                    </a:p>
                  </a:txBody>
                  <a:tcPr marL="91440" marR="91440" marT="41148" marB="41148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输入脱敏产品想法，创建项目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POST /api/projects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201 + 项目 ID</a:t>
                      </a:r>
                    </a:p>
                  </a:txBody>
                  <a:tcPr marL="91440" marR="91440" marT="41148" marB="41148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生成结构化蓝图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POST /generate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200 + 8 个板块</a:t>
                      </a:r>
                    </a:p>
                  </a:txBody>
                  <a:tcPr marL="91440" marR="91440" marT="41148" marB="41148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编辑一个字段并保存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PUT /api/projects/{id}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200，旧审查被清除</a:t>
                      </a:r>
                    </a:p>
                  </a:txBody>
                  <a:tcPr marL="91440" marR="91440" marT="41148" marB="41148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刷新页面验证持久化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GET /api/projects/{id}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200，修改仍在</a:t>
                      </a:r>
                    </a:p>
                  </a:txBody>
                  <a:tcPr marL="91440" marR="91440" marT="41148" marB="41148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执行审查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POST /review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200 + ready/needs-revision</a:t>
                      </a:r>
                    </a:p>
                  </a:txBody>
                  <a:tcPr marL="91440" marR="91440" marT="41148" marB="41148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6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导出 Markdown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GET /export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200 + text/markdown</a:t>
                      </a:r>
                    </a:p>
                  </a:txBody>
                  <a:tcPr marL="91440" marR="91440" marT="41148" marB="4114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56235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B4DE4"/>
                </a:solidFill>
                <a:latin typeface="Helvetica Neue"/>
              </a:rPr>
              <a:t>启动：npm install → npm run dev → http://127.0.0.1:3000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6B6B"/>
                </a:solidFill>
                <a:latin typeface="Helvetica Neue"/>
              </a:rPr>
              <a:t>现场演示使用 demo provider 保证确定性；真实模型证据另见 evidence/real-ai-2026-07-22/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4DE4"/>
                </a:solidFill>
                <a:latin typeface="Helvetica Neue"/>
              </a:rPr>
              <a:t>04　AI 使用边界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三种 provider，一道校验，失败不伪装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10515600" cy="38100"/>
          </a:xfrm>
          <a:prstGeom prst="rect">
            <a:avLst/>
          </a:prstGeom>
          <a:solidFill>
            <a:srgbClr val="1B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5074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>
                <a:solidFill>
                  <a:srgbClr val="1B4DE4"/>
                </a:solidFill>
                <a:latin typeface="Helvetica Neue"/>
              </a:rPr>
              <a:t>provider 分层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demo　确定性实现，服务于测试与离线演示。UI 与 API 均标识其非真实模型性质。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openai-compatible　从 .env.local 读取 base URL / key / 模型名，调用 /chat/completions。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anthropic-compatible　运行时读取本机 Claude Code profile，调用 /v1/messages，token 不复制进项目。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1488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>
                <a:solidFill>
                  <a:srgbClr val="B45409"/>
                </a:solidFill>
                <a:latin typeface="Helvetica Neue"/>
              </a:rPr>
              <a:t>失败策略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缺配置、超时、HTTP 非 2xx、空内容、无效 JSON —— 一律返回明确错误，不降级为『假成功』。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不把模型输出当作真相、最终决策、市场事实或法律建议。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API Key 只从运行时环境读取，不出现在日志、数据文件、响应或导出文件中。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真实模型测试只保存脱敏输入摘要、状态码、模型名与输出结构摘要。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4DE4"/>
                </a:solidFill>
                <a:latin typeface="Helvetica Neue"/>
              </a:rPr>
              <a:t>05　真实 AI 能力证据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生成与审查使用不同模型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10515600" cy="38100"/>
          </a:xfrm>
          <a:prstGeom prst="rect">
            <a:avLst/>
          </a:prstGeom>
          <a:solidFill>
            <a:srgbClr val="1B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2194560"/>
          <a:ext cx="10424159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221"/>
                <a:gridCol w="2644936"/>
                <a:gridCol w="2022598"/>
                <a:gridCol w="3967404"/>
              </a:tblGrid>
              <a:tr h="4297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环节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Provider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模型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结果</a:t>
                      </a:r>
                    </a:p>
                  </a:txBody>
                  <a:tcPr marL="91440" marR="91440" marT="41148" marB="41148"/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生成蓝图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anthropic-compatible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gpt-5.6-sol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HTTP 200，8 板块通过校验</a:t>
                      </a:r>
                    </a:p>
                  </a:txBody>
                  <a:tcPr marL="91440" marR="91440" marT="41148" marB="41148"/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人工编辑保存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浏览器验证，编辑标记落盘</a:t>
                      </a:r>
                    </a:p>
                  </a:txBody>
                  <a:tcPr marL="91440" marR="91440" marT="41148" marB="41148"/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审查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openai-compatible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gpt-5.6-terra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HTTP 200，needs-revision，9 findings</a:t>
                      </a:r>
                    </a:p>
                  </a:txBody>
                  <a:tcPr marL="91440" marR="91440" marT="41148" marB="41148"/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导出 Markdown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HTTP 200，10455 字节</a:t>
                      </a:r>
                    </a:p>
                  </a:txBody>
                  <a:tcPr marL="91440" marR="91440" marT="41148" marB="4114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617720"/>
            <a:ext cx="10424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4DE4"/>
                </a:solidFill>
                <a:latin typeface="Helvetica Neue"/>
              </a:rPr>
              <a:t>为什么用两个不同模型？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同一模型自我审查等于自己判自己及格。生成用 gpt-5.6-sol，审查用 gpt-5.6-terra，审查结论是 needs-revision（blocking 4 / warning 4 / info 1）——说明审查确实在起作用，而不是走过场。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B45409"/>
                </a:solidFill>
                <a:latin typeface="Helvetica Neue"/>
              </a:rPr>
              <a:t>早期失败记录保留未重写：2026-07-20 的 capability spike 两个上游分别返回 503 和 401，该记录仍在 evidence/real-ai-2026-07-20/。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4DE4"/>
                </a:solidFill>
                <a:latin typeface="Helvetica Neue"/>
              </a:rPr>
              <a:t>06　测试与 UAT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四层测试 + 三类验收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10515600" cy="38100"/>
          </a:xfrm>
          <a:prstGeom prst="rect">
            <a:avLst/>
          </a:prstGeom>
          <a:solidFill>
            <a:srgbClr val="1B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2194560"/>
          <a:ext cx="104241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5120640"/>
                <a:gridCol w="2286000"/>
              </a:tblGrid>
              <a:tr h="4049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类型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覆盖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结果</a:t>
                      </a:r>
                    </a:p>
                  </a:txBody>
                  <a:tcPr marL="91440" marR="91440" marT="41148" marB="41148"/>
                </a:tc>
              </a:tr>
              <a:tr h="4049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Helvetica Neue"/>
                        </a:rPr>
                        <a:t>Vitest 单元/存储/provider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Helvetica Neue"/>
                        </a:rPr>
                        <a:t>6 个测试文件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Helvetica Neue"/>
                        </a:rPr>
                        <a:t>13 passed</a:t>
                      </a:r>
                    </a:p>
                  </a:txBody>
                  <a:tcPr marL="91440" marR="91440" marT="41148" marB="41148"/>
                </a:tc>
              </a:tr>
              <a:tr h="4049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Helvetica Neue"/>
                        </a:rPr>
                        <a:t>ESLint + next build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Helvetica Neue"/>
                        </a:rPr>
                        <a:t>静态检查与生产构建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Helvetica Neue"/>
                        </a:rPr>
                        <a:t>通过，8 条路由</a:t>
                      </a:r>
                    </a:p>
                  </a:txBody>
                  <a:tcPr marL="91440" marR="91440" marT="41148" marB="41148"/>
                </a:tc>
              </a:tr>
              <a:tr h="4049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Helvetica Neue"/>
                        </a:rPr>
                        <a:t>本地 API UAT（curl）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Helvetica Neue"/>
                        </a:rPr>
                        <a:t>health、非法创建、创建、生成、读取、保存、审查、导出、404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Helvetica Neue"/>
                        </a:rPr>
                        <a:t>9 场景全 passed</a:t>
                      </a:r>
                    </a:p>
                  </a:txBody>
                  <a:tcPr marL="91440" marR="91440" marT="41148" marB="41148"/>
                </a:tc>
              </a:tr>
              <a:tr h="4049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Helvetica Neue"/>
                        </a:rPr>
                        <a:t>浏览器双会话自动化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Helvetica Neue"/>
                        </a:rPr>
                        <a:t>边界输入、编辑持久化、并发可见性、20 张截图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Helvetica Neue"/>
                        </a:rPr>
                        <a:t>22 / 22</a:t>
                      </a:r>
                    </a:p>
                  </a:txBody>
                  <a:tcPr marL="91440" marR="91440" marT="41148" marB="41148"/>
                </a:tc>
              </a:tr>
              <a:tr h="4049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Helvetica Neue"/>
                        </a:rPr>
                        <a:t>项目本人人工 UAT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Helvetica Neue"/>
                        </a:rPr>
                        <a:t>6 个场景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Helvetica Neue"/>
                        </a:rPr>
                        <a:t>PASS WITH LIMITS</a:t>
                      </a:r>
                    </a:p>
                  </a:txBody>
                  <a:tcPr marL="91440" marR="91440" marT="41148" marB="41148"/>
                </a:tc>
              </a:tr>
              <a:tr h="4049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Helvetica Neue"/>
                        </a:rPr>
                        <a:t>独立真人结对 UAT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Helvetica Neue"/>
                        </a:rPr>
                        <a:t>测试者 TYX（未参与开发）· Edge · 7 个场景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Helvetica Neue"/>
                        </a:rPr>
                        <a:t>通过（U-03 复测）</a:t>
                      </a:r>
                    </a:p>
                  </a:txBody>
                  <a:tcPr marL="91440" marR="91440" marT="41148" marB="4114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544068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B4DE4"/>
                </a:solidFill>
                <a:latin typeface="Helvetica Neue"/>
              </a:rPr>
              <a:t>最能证明质量的一项：两次真人验收都抓到了自动化完全没发现的问题。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6B6B"/>
                </a:solidFill>
                <a:latin typeface="Helvetica Neue"/>
              </a:rPr>
              <a:t>13 个测试全绿、API 全部 200 的情况下，浏览器打开却是白屏；真人测试者 TYX 又发现生成蓝图首次不可用。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4DE4"/>
                </a:solidFill>
                <a:latin typeface="Helvetica Neue"/>
              </a:rPr>
              <a:t>07　被推翻的架构决策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答辩必答题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10515600" cy="38100"/>
          </a:xfrm>
          <a:prstGeom prst="rect">
            <a:avLst/>
          </a:prstGeom>
          <a:solidFill>
            <a:srgbClr val="1B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1">
                <a:solidFill>
                  <a:srgbClr val="1A1A1A"/>
                </a:solidFill>
                <a:latin typeface="Helvetica Neue"/>
              </a:rPr>
              <a:t>决策：开发与构建从 Next 16 默认的 Turbopack 改回 Webpack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Helvetica Neue"/>
              </a:rPr>
              <a:t>原判断　使用框架默认构建器，无需干预。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Helvetica Neue"/>
              </a:rPr>
              <a:t>推翻依据　2026-07-23 人工 UAT 发现两个阻塞：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6B6B"/>
                </a:solidFill>
                <a:latin typeface="Helvetica Neue"/>
              </a:rPr>
              <a:t>① Turbopack 无法解析 next/font/google 内部模块，清缓存后首页 HTTP 500、浏览器白屏；② 以 127.0.0.1 访问时 dev origin 被拦截，React hydration 未完成，输入与按钮无响应。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Helvetica Neue"/>
              </a:rPr>
              <a:t>修正动作　package.json 的 dev/build 固定 --webpack；next.config.ts 仅允许回环开发来源。</a:t>
            </a:r>
          </a:p>
          <a:p>
            <a:pPr algn="l">
              <a:spcAft>
                <a:spcPts val="1600"/>
              </a:spcAft>
            </a:pPr>
            <a:r>
              <a:rPr sz="1600" b="0">
                <a:solidFill>
                  <a:srgbClr val="1A1A1A"/>
                </a:solidFill>
                <a:latin typeface="Helvetica Neue"/>
              </a:rPr>
              <a:t>回归结果　health 200、页面 demo·可用、控制台 0 error、13 个测试通过。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B4DE4"/>
                </a:solidFill>
                <a:latin typeface="Helvetica Neue"/>
              </a:rPr>
              <a:t>得到的判断：自动化测试全绿不能替代真人打开页面。这两个故障在 API 层与单元测试层完全不可见。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4DE4"/>
                </a:solidFill>
                <a:latin typeface="Helvetica Neue"/>
              </a:rPr>
              <a:t>08　安全与凭据保护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扫描内建在质量门禁里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10515600" cy="38100"/>
          </a:xfrm>
          <a:prstGeom prst="rect">
            <a:avLst/>
          </a:prstGeom>
          <a:solidFill>
            <a:srgbClr val="1B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700" b="1">
                <a:solidFill>
                  <a:srgbClr val="1A1A1A"/>
                </a:solidFill>
                <a:latin typeface="Helvetica Neue"/>
              </a:rPr>
              <a:t>扫描规则   scripts/check.sh 内置正则：sk- / AKIA / gh[pousr]_ / github_pat_ / glpat- 及各类 PRIVATE KEY 头，排除 .git、node_modules、.next、.env*。</a:t>
            </a:r>
          </a:p>
          <a:p>
            <a:pPr algn="l">
              <a:spcAft>
                <a:spcPts val="1600"/>
              </a:spcAft>
            </a:pPr>
            <a:r>
              <a:rPr sz="1700" b="1">
                <a:solidFill>
                  <a:srgbClr val="1A1A1A"/>
                </a:solidFill>
                <a:latin typeface="Helvetica Neue"/>
              </a:rPr>
              <a:t>最终结果   无命中，check: passed，退出码 0。扫描是质量门禁的一环，不是提交前临时补跑。</a:t>
            </a:r>
          </a:p>
          <a:p>
            <a:pPr algn="l">
              <a:spcAft>
                <a:spcPts val="1600"/>
              </a:spcAft>
            </a:pPr>
            <a:r>
              <a:rPr sz="1700" b="1">
                <a:solidFill>
                  <a:srgbClr val="1A1A1A"/>
                </a:solidFill>
                <a:latin typeface="Helvetica Neue"/>
              </a:rPr>
              <a:t>凭据处理   API Key 只从运行时环境读取；anthropic-compatible 只读本机 profile，token 不复制进项目；真实模型测试用一次性临时凭据，测试结束即停止服务。</a:t>
            </a:r>
          </a:p>
          <a:p>
            <a:pPr algn="l">
              <a:spcAft>
                <a:spcPts val="1600"/>
              </a:spcAft>
            </a:pPr>
            <a:r>
              <a:rPr sz="1700" b="1">
                <a:solidFill>
                  <a:srgbClr val="1A1A1A"/>
                </a:solidFill>
                <a:latin typeface="Helvetica Neue"/>
              </a:rPr>
              <a:t>数据边界   data/launchspec.json 与 .env.local 均被 Git 忽略；真实模型证据只存脱敏摘要、状态码、模型名与输出结构。</a:t>
            </a:r>
          </a:p>
          <a:p>
            <a:pPr algn="l">
              <a:spcAft>
                <a:spcPts val="1600"/>
              </a:spcAft>
            </a:pPr>
            <a:r>
              <a:rPr sz="1700" b="1">
                <a:solidFill>
                  <a:srgbClr val="1A1A1A"/>
                </a:solidFill>
                <a:latin typeface="Helvetica Neue"/>
              </a:rPr>
              <a:t>隐私   不采集真实敏感个人信息；UAT 输入为脱敏测试想法。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4DE4"/>
                </a:solidFill>
                <a:latin typeface="Helvetica Neue"/>
              </a:rPr>
              <a:t>09　三次 Gate 与已知缺口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如实记录，不粉饰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10515600" cy="38100"/>
          </a:xfrm>
          <a:prstGeom prst="rect">
            <a:avLst/>
          </a:prstGeom>
          <a:solidFill>
            <a:srgbClr val="1B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2194560"/>
          <a:ext cx="104241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  <a:gridCol w="4937760"/>
              </a:tblGrid>
              <a:tr h="42291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Gate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结论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未满足项</a:t>
                      </a:r>
                    </a:p>
                  </a:txBody>
                  <a:tcPr marL="91440" marR="91440" marT="41148" marB="41148"/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Gate 1　PRD/SPEC 互审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修改后通过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文档阅读式复述未完成（已有使用后复述）</a:t>
                      </a:r>
                    </a:p>
                  </a:txBody>
                  <a:tcPr marL="91440" marR="91440" marT="41148" marB="41148"/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Gate 2　设计审计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修改后通过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缺测试先行红绿证据；独立审计人未指派</a:t>
                      </a:r>
                    </a:p>
                  </a:txBody>
                  <a:tcPr marL="91440" marR="91440" marT="41148" marB="41148"/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Gate 3　交付审计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修改后通过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Helvetica Neue"/>
                        </a:rPr>
                        <a:t>提交粒度缺口（真人 UAT 已于 07-29 补齐）</a:t>
                      </a:r>
                    </a:p>
                  </a:txBody>
                  <a:tcPr marL="91440" marR="91440" marT="41148" marB="4114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114800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B45409"/>
                </a:solidFill>
                <a:latin typeface="Helvetica Neue"/>
              </a:rPr>
              <a:t>确认存在的缺口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提交 4414ea4 一次性引入 79 文件、11407 行，覆盖 C1–C7 全部任务卡，无法逐卡对应，也无法体现红绿顺序。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已补齐：独立真人结对 UAT 于 2026-07-29 由未参与开发的测试者 TYX 完成，发现并复测了 1 项阻断问题。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同一测试者用完后把系统复述为「AI 总结出方案」，未提到人工编辑与审查——说明「AI 给草案，人做决策」这一核心立场传达不足，已列入 PRD 改进动作。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B4DE4"/>
                </a:solidFill>
                <a:latin typeface="Helvetica Neue"/>
              </a:rPr>
              <a:t>提交粒度缺口不做补救——补写『先失败的提交』等同伪造历史，属课程红线。处理方式是如实声明，并以集中期 arena-lite 的红绿证据说明方法已掌握。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4DE4"/>
                </a:solidFill>
                <a:latin typeface="Helvetica Neue"/>
              </a:rPr>
              <a:t>10　已知限制与后续计划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边界清楚，用户可绕行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10515600" cy="38100"/>
          </a:xfrm>
          <a:prstGeom prst="rect">
            <a:avLst/>
          </a:prstGeom>
          <a:solidFill>
            <a:srgbClr val="1B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5074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>
                <a:solidFill>
                  <a:srgbClr val="B45409"/>
                </a:solidFill>
                <a:latin typeface="Helvetica Neue"/>
              </a:rPr>
              <a:t>已知限制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1　单机本地 MVP，无账号、权限、支付、多人实时协作与异步队列。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2　JSON 存储不支持多进程并发写入与复杂查询。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3　自动化测试固定 demo provider；demo 不是真实模型能力证据。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4　真实模型证据为单次脱敏运行，非持续可用性保证。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5　未保留测试先行的红绿提交序列。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1488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>
                <a:solidFill>
                  <a:srgbClr val="1B4DE4"/>
                </a:solidFill>
                <a:latin typeface="Helvetica Neue"/>
              </a:rPr>
              <a:t>用户如何绕行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并发问题 → 单人单进程使用。</a:t>
            </a:r>
          </a:p>
          <a:p>
            <a:pPr algn="l">
              <a:spcAft>
                <a:spcPts val="18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真实模型不可用 → 切回 demo，界面与流程仍可用，但结果须标注为非真实模型。</a:t>
            </a:r>
          </a:p>
          <a:p>
            <a:pPr algn="l">
              <a:spcAft>
                <a:spcPts val="1100"/>
              </a:spcAft>
            </a:pPr>
            <a:r>
              <a:rPr sz="1700" b="1">
                <a:solidFill>
                  <a:srgbClr val="1B4DE4"/>
                </a:solidFill>
                <a:latin typeface="Helvetica Neue"/>
              </a:rPr>
              <a:t>如果再给一周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补　独立评审人对 PRD/SPEC 的复述记录。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补　新增功能真实走一次红绿流程，留独立的红、绿两次提交。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砍　不做多人协作与云端存储，维持单机边界。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4DE4"/>
                </a:solidFill>
                <a:latin typeface="Helvetica Neue"/>
              </a:rPr>
              <a:t>11　Q&amp;A 备份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证据定位速查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10515600" cy="38100"/>
          </a:xfrm>
          <a:prstGeom prst="rect">
            <a:avLst/>
          </a:prstGeom>
          <a:solidFill>
            <a:srgbClr val="1B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2194560"/>
          <a:ext cx="104241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846320"/>
                <a:gridCol w="2377440"/>
              </a:tblGrid>
              <a:tr h="406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</a:rPr>
                        <a:t>问题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</a:rPr>
                        <a:t>回答要点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</a:rPr>
                        <a:t>证据路径</a:t>
                      </a:r>
                    </a:p>
                  </a:txBody>
                  <a:tcPr marL="91440" marR="91440" marT="41148" marB="41148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服务哪类用户？最小场景？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创业团队/外包 PM/学生组；想法→蓝图→审查→导出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docs/PRD.md</a:t>
                      </a:r>
                    </a:p>
                  </a:txBody>
                  <a:tcPr marL="91440" marR="91440" marT="41148" marB="41148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哪个架构决策被推翻？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Turbopack 改回 Webpack；人工 UAT 发现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gate-3-delivery.md</a:t>
                      </a:r>
                    </a:p>
                  </a:txBody>
                  <a:tcPr marL="91440" marR="91440" marT="41148" marB="41148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哪个测试最能证明质量？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两次真人验收各抓到一个自动化看不见的问题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human-pair-uat-2026-07-29.md</a:t>
                      </a:r>
                    </a:p>
                  </a:txBody>
                  <a:tcPr marL="91440" marR="91440" marT="41148" marB="41148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哪段 AI 生成内容被修改？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蓝图字段人工编辑并落盘，导出含人工标记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real-ai-2026-07-22/export.md</a:t>
                      </a:r>
                    </a:p>
                  </a:txBody>
                  <a:tcPr marL="91440" marR="91440" marT="41148" marB="41148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密钥如何保护？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运行时环境读取 + check.sh 内置扫描 + 数据文件 Git 忽略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scripts/check.sh</a:t>
                      </a:r>
                    </a:p>
                  </a:txBody>
                  <a:tcPr marL="91440" marR="91440" marT="41148" marB="41148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再给一周做什么？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补独立真人 UAT 与红绿序列；砍多人协作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final-report.md §12</a:t>
                      </a:r>
                    </a:p>
                  </a:txBody>
                  <a:tcPr marL="91440" marR="91440" marT="41148" marB="41148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当前已知限制？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单机、无并发、demo 非真实证据、红绿序列缺口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final-report.md §12</a:t>
                      </a:r>
                    </a:p>
                  </a:txBody>
                  <a:tcPr marL="91440" marR="91440" marT="41148" marB="41148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最终版本冻结在哪个提交？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ab364f0（2026-08-02），之后无内容变更</a:t>
                      </a:r>
                    </a:p>
                  </a:txBody>
                  <a:tcPr marL="91440" marR="91440" marT="41148" marB="4114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Helvetica Neue"/>
                        </a:rPr>
                        <a:t>final-report.md §1</a:t>
                      </a:r>
                    </a:p>
                  </a:txBody>
                  <a:tcPr marL="91440" marR="91440" marT="41148" marB="41148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